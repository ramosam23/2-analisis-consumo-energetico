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5"/>
  </p:notesMasterIdLst>
  <p:sldIdLst>
    <p:sldId id="256" r:id="rId2"/>
    <p:sldId id="262" r:id="rId3"/>
    <p:sldId id="261" r:id="rId4"/>
    <p:sldId id="260" r:id="rId5"/>
    <p:sldId id="263" r:id="rId6"/>
    <p:sldId id="264" r:id="rId7"/>
    <p:sldId id="271"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60" d="100"/>
          <a:sy n="60" d="100"/>
        </p:scale>
        <p:origin x="114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27A94-0904-46A3-A097-2ACBD829C4AF}" type="datetimeFigureOut">
              <a:rPr lang="es-CO" smtClean="0"/>
              <a:t>01/17/2026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118CD3-51B0-4DC6-AB00-D8774DE9BD65}" type="slidenum">
              <a:rPr lang="es-CO" smtClean="0"/>
              <a:t>‹Nº›</a:t>
            </a:fld>
            <a:endParaRPr lang="es-CO"/>
          </a:p>
        </p:txBody>
      </p:sp>
    </p:spTree>
    <p:extLst>
      <p:ext uri="{BB962C8B-B14F-4D97-AF65-F5344CB8AC3E}">
        <p14:creationId xmlns:p14="http://schemas.microsoft.com/office/powerpoint/2010/main" val="2821848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Este proyecto busca entender cómo evoluciona el consumo energético en el tiempo y evaluar si es posible realizar predicciones confiables usando únicamente información histórica. El enfoque prioriza claridad, interpretabilidad y valor práctico.</a:t>
            </a:r>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2</a:t>
            </a:fld>
            <a:endParaRPr lang="es-CO"/>
          </a:p>
        </p:txBody>
      </p:sp>
    </p:spTree>
    <p:extLst>
      <p:ext uri="{BB962C8B-B14F-4D97-AF65-F5344CB8AC3E}">
        <p14:creationId xmlns:p14="http://schemas.microsoft.com/office/powerpoint/2010/main" val="195811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Estas preguntas guiaron todo el análisis. Cada etapa del proyecto —exploración, agregación, modelado y evaluación— está diseñada para dar respuesta directa a una o varias de ellas.</a:t>
            </a:r>
          </a:p>
        </p:txBody>
      </p:sp>
      <p:sp>
        <p:nvSpPr>
          <p:cNvPr id="4" name="Marcador de número de diapositiva 3"/>
          <p:cNvSpPr>
            <a:spLocks noGrp="1"/>
          </p:cNvSpPr>
          <p:nvPr>
            <p:ph type="sldNum" sz="quarter" idx="5"/>
          </p:nvPr>
        </p:nvSpPr>
        <p:spPr/>
        <p:txBody>
          <a:bodyPr/>
          <a:lstStyle/>
          <a:p>
            <a:fld id="{31118CD3-51B0-4DC6-AB00-D8774DE9BD65}" type="slidenum">
              <a:rPr lang="es-CO" smtClean="0"/>
              <a:t>3</a:t>
            </a:fld>
            <a:endParaRPr lang="es-CO"/>
          </a:p>
        </p:txBody>
      </p:sp>
    </p:spTree>
    <p:extLst>
      <p:ext uri="{BB962C8B-B14F-4D97-AF65-F5344CB8AC3E}">
        <p14:creationId xmlns:p14="http://schemas.microsoft.com/office/powerpoint/2010/main" val="1087628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D8727-43A1-7159-ABD4-6FAE325551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40669B-5FF2-5C11-98CD-24755F2DCD4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5109632-4B0C-DD30-0E18-670B484BC4EC}"/>
              </a:ext>
            </a:extLst>
          </p:cNvPr>
          <p:cNvSpPr>
            <a:spLocks noGrp="1"/>
          </p:cNvSpPr>
          <p:nvPr>
            <p:ph type="body" idx="1"/>
          </p:nvPr>
        </p:nvSpPr>
        <p:spPr/>
        <p:txBody>
          <a:bodyPr/>
          <a:lstStyle/>
          <a:p>
            <a:r>
              <a:rPr lang="es-MX" dirty="0"/>
              <a:t>Los datos corresponden a una serie temporal de consumo energético.</a:t>
            </a:r>
            <a:br>
              <a:rPr lang="es-MX" dirty="0"/>
            </a:br>
            <a:r>
              <a:rPr lang="es-MX" dirty="0"/>
              <a:t>Se decidió trabajar con agregación mensual para facilitar el análisis de tendencias y estacionalidad, evitando fluctuaciones de corto plazo que no aportan al objetivo predictivo.</a:t>
            </a:r>
            <a:endParaRPr lang="es-CO" dirty="0"/>
          </a:p>
        </p:txBody>
      </p:sp>
      <p:sp>
        <p:nvSpPr>
          <p:cNvPr id="4" name="Marcador de número de diapositiva 3">
            <a:extLst>
              <a:ext uri="{FF2B5EF4-FFF2-40B4-BE49-F238E27FC236}">
                <a16:creationId xmlns:a16="http://schemas.microsoft.com/office/drawing/2014/main" id="{D8787D72-6FF8-A555-DEA7-C65FC5EC7390}"/>
              </a:ext>
            </a:extLst>
          </p:cNvPr>
          <p:cNvSpPr>
            <a:spLocks noGrp="1"/>
          </p:cNvSpPr>
          <p:nvPr>
            <p:ph type="sldNum" sz="quarter" idx="5"/>
          </p:nvPr>
        </p:nvSpPr>
        <p:spPr/>
        <p:txBody>
          <a:bodyPr/>
          <a:lstStyle/>
          <a:p>
            <a:fld id="{31118CD3-51B0-4DC6-AB00-D8774DE9BD65}" type="slidenum">
              <a:rPr lang="es-CO" smtClean="0"/>
              <a:t>4</a:t>
            </a:fld>
            <a:endParaRPr lang="es-CO"/>
          </a:p>
        </p:txBody>
      </p:sp>
    </p:spTree>
    <p:extLst>
      <p:ext uri="{BB962C8B-B14F-4D97-AF65-F5344CB8AC3E}">
        <p14:creationId xmlns:p14="http://schemas.microsoft.com/office/powerpoint/2010/main" val="1516048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El análisis exploratorio permitió identificar estacionalidad clara y estabilidad general del consumo, lo que sugiere que el comportamiento es estructurado y potencialmente modelable.</a:t>
            </a:r>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5</a:t>
            </a:fld>
            <a:endParaRPr lang="es-CO"/>
          </a:p>
        </p:txBody>
      </p:sp>
    </p:spTree>
    <p:extLst>
      <p:ext uri="{BB962C8B-B14F-4D97-AF65-F5344CB8AC3E}">
        <p14:creationId xmlns:p14="http://schemas.microsoft.com/office/powerpoint/2010/main" val="3601124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Se identificaron algunos meses con comportamientos atípicos que se apartan del patrón esperado. Estos eventos fueron considerados durante la evaluación del modelo para entender su impacto en las predicciones.</a:t>
            </a:r>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6</a:t>
            </a:fld>
            <a:endParaRPr lang="es-CO"/>
          </a:p>
        </p:txBody>
      </p:sp>
    </p:spTree>
    <p:extLst>
      <p:ext uri="{BB962C8B-B14F-4D97-AF65-F5344CB8AC3E}">
        <p14:creationId xmlns:p14="http://schemas.microsoft.com/office/powerpoint/2010/main" val="4291809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Este gráfico demuestra que el consumo energético no es aleatorio, sino que depende de su propio historial. La presencia de autocorrelación en rezagos clave, especialmente el rezago anual, justifica el uso de modelos estacionales para la predicción.</a:t>
            </a:r>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7</a:t>
            </a:fld>
            <a:endParaRPr lang="es-CO"/>
          </a:p>
        </p:txBody>
      </p:sp>
    </p:spTree>
    <p:extLst>
      <p:ext uri="{BB962C8B-B14F-4D97-AF65-F5344CB8AC3E}">
        <p14:creationId xmlns:p14="http://schemas.microsoft.com/office/powerpoint/2010/main" val="4193933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Antes de modelar, se consolidaron los datos a frecuencia mensual para capturar patrones de largo plazo.</a:t>
            </a:r>
          </a:p>
          <a:p>
            <a:r>
              <a:rPr lang="es-MX" dirty="0"/>
              <a:t>Se realizó una división temporal respetando el orden cronológico, evitando fuga de información.</a:t>
            </a:r>
          </a:p>
          <a:p>
            <a:r>
              <a:rPr lang="es-MX" dirty="0"/>
              <a:t>Además, se evaluó la estacionariedad de la serie para determinar el tipo de modelo adecuado.</a:t>
            </a:r>
          </a:p>
          <a:p>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8</a:t>
            </a:fld>
            <a:endParaRPr lang="es-CO"/>
          </a:p>
        </p:txBody>
      </p:sp>
    </p:spTree>
    <p:extLst>
      <p:ext uri="{BB962C8B-B14F-4D97-AF65-F5344CB8AC3E}">
        <p14:creationId xmlns:p14="http://schemas.microsoft.com/office/powerpoint/2010/main" val="1188704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El modelo de regresión con rezagos se utilizó como punto de comparación. Aunque es simple, permite evaluar si modelos más complejos realmente aportan valor adicional.</a:t>
            </a:r>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9</a:t>
            </a:fld>
            <a:endParaRPr lang="es-CO"/>
          </a:p>
        </p:txBody>
      </p:sp>
    </p:spTree>
    <p:extLst>
      <p:ext uri="{BB962C8B-B14F-4D97-AF65-F5344CB8AC3E}">
        <p14:creationId xmlns:p14="http://schemas.microsoft.com/office/powerpoint/2010/main" val="3582251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SARIMA se seleccionó como modelo final por su capacidad para modelar explícitamente la estructura temporal observada en los datos, manteniendo un equilibrio entre precisión y robustez.</a:t>
            </a:r>
          </a:p>
          <a:p>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10</a:t>
            </a:fld>
            <a:endParaRPr lang="es-CO"/>
          </a:p>
        </p:txBody>
      </p:sp>
    </p:spTree>
    <p:extLst>
      <p:ext uri="{BB962C8B-B14F-4D97-AF65-F5344CB8AC3E}">
        <p14:creationId xmlns:p14="http://schemas.microsoft.com/office/powerpoint/2010/main" val="1362763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En esta etapa se compararon tres enfoques con distintos niveles de complejidad.</a:t>
            </a:r>
            <a:br>
              <a:rPr lang="es-MX" dirty="0"/>
            </a:br>
            <a:r>
              <a:rPr lang="es-MX" dirty="0"/>
              <a:t>El modelo baseline permitió establecer una línea base de desempeño.</a:t>
            </a:r>
            <a:br>
              <a:rPr lang="es-MX" dirty="0"/>
            </a:br>
            <a:r>
              <a:rPr lang="es-MX" dirty="0"/>
              <a:t>La regresión con rezagos confirmó la existencia de dependencia temporal, pero mostró limitaciones para capturar la estacionalidad anual.</a:t>
            </a:r>
            <a:br>
              <a:rPr lang="es-MX" dirty="0"/>
            </a:br>
            <a:r>
              <a:rPr lang="es-MX" dirty="0"/>
              <a:t>El modelo SARIMA integró explícitamente tendencia, estacionalidad y autocorrelación, obteniendo los mejores resultados cuantitativos y un comportamiento más coherente con la naturaleza de la serie.</a:t>
            </a:r>
            <a:br>
              <a:rPr lang="es-MX" dirty="0"/>
            </a:br>
            <a:r>
              <a:rPr lang="es-MX" dirty="0"/>
              <a:t>Por esta razón, SARIMA se selecciona como modelo final para la evaluación y comunicación de resultados.</a:t>
            </a:r>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11</a:t>
            </a:fld>
            <a:endParaRPr lang="es-CO"/>
          </a:p>
        </p:txBody>
      </p:sp>
    </p:spTree>
    <p:extLst>
      <p:ext uri="{BB962C8B-B14F-4D97-AF65-F5344CB8AC3E}">
        <p14:creationId xmlns:p14="http://schemas.microsoft.com/office/powerpoint/2010/main" val="2799454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Las métricas cuantitativas y la inspección visual muestran que el modelo es consistente y confiable para capturar la dinámica general del consumo energético. El modelo SARIMA logra seguir adecuadamente las subidas y bajadas del consumo real.</a:t>
            </a:r>
          </a:p>
          <a:p>
            <a:r>
              <a:rPr lang="es-MX" dirty="0"/>
              <a:t>Aunque existen pequeñas discrepancias puntuales, el error promedio se mantiene bajo y dentro de rangos aceptables.</a:t>
            </a:r>
          </a:p>
          <a:p>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12</a:t>
            </a:fld>
            <a:endParaRPr lang="es-CO"/>
          </a:p>
        </p:txBody>
      </p:sp>
    </p:spTree>
    <p:extLst>
      <p:ext uri="{BB962C8B-B14F-4D97-AF65-F5344CB8AC3E}">
        <p14:creationId xmlns:p14="http://schemas.microsoft.com/office/powerpoint/2010/main" val="2035587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MX" dirty="0"/>
              <a:t>Este proyecto demuestra que incluso con información limitada al histórico de consumo, es posible construir modelos predictivos útiles. La comparación de enfoques permitió justificar la elección de SARIMA no solo por métricas, sino por su alineación con la naturaleza temporal del problema.</a:t>
            </a:r>
            <a:endParaRPr lang="es-CO" dirty="0"/>
          </a:p>
        </p:txBody>
      </p:sp>
      <p:sp>
        <p:nvSpPr>
          <p:cNvPr id="4" name="Marcador de número de diapositiva 3"/>
          <p:cNvSpPr>
            <a:spLocks noGrp="1"/>
          </p:cNvSpPr>
          <p:nvPr>
            <p:ph type="sldNum" sz="quarter" idx="5"/>
          </p:nvPr>
        </p:nvSpPr>
        <p:spPr/>
        <p:txBody>
          <a:bodyPr/>
          <a:lstStyle/>
          <a:p>
            <a:fld id="{31118CD3-51B0-4DC6-AB00-D8774DE9BD65}" type="slidenum">
              <a:rPr lang="es-CO" smtClean="0"/>
              <a:t>13</a:t>
            </a:fld>
            <a:endParaRPr lang="es-CO"/>
          </a:p>
        </p:txBody>
      </p:sp>
    </p:spTree>
    <p:extLst>
      <p:ext uri="{BB962C8B-B14F-4D97-AF65-F5344CB8AC3E}">
        <p14:creationId xmlns:p14="http://schemas.microsoft.com/office/powerpoint/2010/main" val="1953501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F40D3A2A-62CB-4B51-B6BB-A755114030D3}" type="datetimeFigureOut">
              <a:rPr lang="es-CO" smtClean="0"/>
              <a:t>01/17/2026</a:t>
            </a:fld>
            <a:endParaRPr lang="es-CO"/>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s-CO"/>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A4703A2D-13BE-426E-82E0-D4A3EAAFCE13}" type="slidenum">
              <a:rPr lang="es-CO" smtClean="0"/>
              <a:t>‹Nº›</a:t>
            </a:fld>
            <a:endParaRPr lang="es-CO"/>
          </a:p>
        </p:txBody>
      </p:sp>
    </p:spTree>
    <p:extLst>
      <p:ext uri="{BB962C8B-B14F-4D97-AF65-F5344CB8AC3E}">
        <p14:creationId xmlns:p14="http://schemas.microsoft.com/office/powerpoint/2010/main" val="1809407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40D3A2A-62CB-4B51-B6BB-A755114030D3}" type="datetimeFigureOut">
              <a:rPr lang="es-CO" smtClean="0"/>
              <a:t>01/17/2026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1615254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40D3A2A-62CB-4B51-B6BB-A755114030D3}" type="datetimeFigureOut">
              <a:rPr lang="es-CO" smtClean="0"/>
              <a:t>01/17/2026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2856143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40D3A2A-62CB-4B51-B6BB-A755114030D3}" type="datetimeFigureOut">
              <a:rPr lang="es-CO" smtClean="0"/>
              <a:t>01/17/2026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351977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40D3A2A-62CB-4B51-B6BB-A755114030D3}" type="datetimeFigureOut">
              <a:rPr lang="es-CO" smtClean="0"/>
              <a:t>01/17/2026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1854747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F40D3A2A-62CB-4B51-B6BB-A755114030D3}" type="datetimeFigureOut">
              <a:rPr lang="es-CO" smtClean="0"/>
              <a:t>01/17/2026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1688644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0D3A2A-62CB-4B51-B6BB-A755114030D3}" type="datetimeFigureOut">
              <a:rPr lang="es-CO" smtClean="0"/>
              <a:t>01/17/2026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247415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s-ES"/>
              <a:t>Haga clic para modificar los estilos de texto del patrón</a:t>
            </a:r>
          </a:p>
        </p:txBody>
      </p:sp>
      <p:sp>
        <p:nvSpPr>
          <p:cNvPr id="5" name="Date Placeholder 4"/>
          <p:cNvSpPr>
            <a:spLocks noGrp="1"/>
          </p:cNvSpPr>
          <p:nvPr>
            <p:ph type="dt" sz="half" idx="10"/>
          </p:nvPr>
        </p:nvSpPr>
        <p:spPr/>
        <p:txBody>
          <a:bodyPr/>
          <a:lstStyle/>
          <a:p>
            <a:fld id="{F40D3A2A-62CB-4B51-B6BB-A755114030D3}" type="datetimeFigureOut">
              <a:rPr lang="es-CO" smtClean="0"/>
              <a:t>01/17/2026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A4703A2D-13BE-426E-82E0-D4A3EAAFCE13}" type="slidenum">
              <a:rPr lang="es-CO" smtClean="0"/>
              <a:t>‹Nº›</a:t>
            </a:fld>
            <a:endParaRPr lang="es-CO"/>
          </a:p>
        </p:txBody>
      </p:sp>
    </p:spTree>
    <p:extLst>
      <p:ext uri="{BB962C8B-B14F-4D97-AF65-F5344CB8AC3E}">
        <p14:creationId xmlns:p14="http://schemas.microsoft.com/office/powerpoint/2010/main" val="225124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F40D3A2A-62CB-4B51-B6BB-A755114030D3}" type="datetimeFigureOut">
              <a:rPr lang="es-CO" smtClean="0"/>
              <a:t>01/17/2026</a:t>
            </a:fld>
            <a:endParaRPr lang="es-CO"/>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s-CO"/>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A4703A2D-13BE-426E-82E0-D4A3EAAFCE13}" type="slidenum">
              <a:rPr lang="es-CO" smtClean="0"/>
              <a:t>‹Nº›</a:t>
            </a:fld>
            <a:endParaRPr lang="es-CO"/>
          </a:p>
        </p:txBody>
      </p:sp>
    </p:spTree>
    <p:extLst>
      <p:ext uri="{BB962C8B-B14F-4D97-AF65-F5344CB8AC3E}">
        <p14:creationId xmlns:p14="http://schemas.microsoft.com/office/powerpoint/2010/main" val="428353940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40D3A2A-62CB-4B51-B6BB-A755114030D3}" type="datetimeFigureOut">
              <a:rPr lang="es-CO" smtClean="0"/>
              <a:t>01/17/2026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3142755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40D3A2A-62CB-4B51-B6BB-A755114030D3}" type="datetimeFigureOut">
              <a:rPr lang="es-CO" smtClean="0"/>
              <a:t>01/17/2026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4703A2D-13BE-426E-82E0-D4A3EAAFCE13}" type="slidenum">
              <a:rPr lang="es-CO" smtClean="0"/>
              <a:t>‹Nº›</a:t>
            </a:fld>
            <a:endParaRPr lang="es-CO"/>
          </a:p>
        </p:txBody>
      </p:sp>
    </p:spTree>
    <p:extLst>
      <p:ext uri="{BB962C8B-B14F-4D97-AF65-F5344CB8AC3E}">
        <p14:creationId xmlns:p14="http://schemas.microsoft.com/office/powerpoint/2010/main" val="3128807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F40D3A2A-62CB-4B51-B6BB-A755114030D3}" type="datetimeFigureOut">
              <a:rPr lang="es-CO" smtClean="0"/>
              <a:t>01/17/2026</a:t>
            </a:fld>
            <a:endParaRPr lang="es-CO"/>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s-CO"/>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A4703A2D-13BE-426E-82E0-D4A3EAAFCE13}" type="slidenum">
              <a:rPr lang="es-CO" smtClean="0"/>
              <a:t>‹Nº›</a:t>
            </a:fld>
            <a:endParaRPr lang="es-CO"/>
          </a:p>
        </p:txBody>
      </p:sp>
    </p:spTree>
    <p:extLst>
      <p:ext uri="{BB962C8B-B14F-4D97-AF65-F5344CB8AC3E}">
        <p14:creationId xmlns:p14="http://schemas.microsoft.com/office/powerpoint/2010/main" val="249073601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51358F-D16B-E9FC-9E94-8A4213BA8B89}"/>
              </a:ext>
            </a:extLst>
          </p:cNvPr>
          <p:cNvSpPr>
            <a:spLocks noGrp="1"/>
          </p:cNvSpPr>
          <p:nvPr>
            <p:ph type="ctrTitle"/>
          </p:nvPr>
        </p:nvSpPr>
        <p:spPr>
          <a:xfrm>
            <a:off x="126609" y="2627932"/>
            <a:ext cx="11493173" cy="1602135"/>
          </a:xfrm>
        </p:spPr>
        <p:txBody>
          <a:bodyPr>
            <a:noAutofit/>
          </a:bodyPr>
          <a:lstStyle/>
          <a:p>
            <a:pPr algn="ctr"/>
            <a:r>
              <a:rPr lang="es-MX" sz="6000" b="1" dirty="0"/>
              <a:t>Análisis y Predicción del Consumo Energético</a:t>
            </a:r>
            <a:br>
              <a:rPr lang="es-MX" sz="8000" dirty="0"/>
            </a:br>
            <a:endParaRPr lang="es-CO" sz="8000" dirty="0"/>
          </a:p>
        </p:txBody>
      </p:sp>
      <p:sp>
        <p:nvSpPr>
          <p:cNvPr id="3" name="Subtítulo 2">
            <a:extLst>
              <a:ext uri="{FF2B5EF4-FFF2-40B4-BE49-F238E27FC236}">
                <a16:creationId xmlns:a16="http://schemas.microsoft.com/office/drawing/2014/main" id="{DF7B478D-F71A-FEB2-01C5-3EFE393DED83}"/>
              </a:ext>
            </a:extLst>
          </p:cNvPr>
          <p:cNvSpPr>
            <a:spLocks noGrp="1"/>
          </p:cNvSpPr>
          <p:nvPr>
            <p:ph type="subTitle" idx="1"/>
          </p:nvPr>
        </p:nvSpPr>
        <p:spPr>
          <a:xfrm>
            <a:off x="1012874" y="3428999"/>
            <a:ext cx="9805181" cy="861420"/>
          </a:xfrm>
        </p:spPr>
        <p:txBody>
          <a:bodyPr>
            <a:normAutofit/>
          </a:bodyPr>
          <a:lstStyle/>
          <a:p>
            <a:pPr algn="ctr"/>
            <a:r>
              <a:rPr lang="es-MX" sz="2400" dirty="0"/>
              <a:t>Exploración de patrones temporales y modelos predictivos aplicados al consumo energético</a:t>
            </a:r>
          </a:p>
          <a:p>
            <a:endParaRPr lang="es-CO" sz="2800" dirty="0"/>
          </a:p>
        </p:txBody>
      </p:sp>
      <p:sp>
        <p:nvSpPr>
          <p:cNvPr id="5" name="CuadroTexto 4">
            <a:extLst>
              <a:ext uri="{FF2B5EF4-FFF2-40B4-BE49-F238E27FC236}">
                <a16:creationId xmlns:a16="http://schemas.microsoft.com/office/drawing/2014/main" id="{3658D517-184E-61DA-2E1B-68DDA1932F36}"/>
              </a:ext>
            </a:extLst>
          </p:cNvPr>
          <p:cNvSpPr txBox="1"/>
          <p:nvPr/>
        </p:nvSpPr>
        <p:spPr>
          <a:xfrm>
            <a:off x="487679" y="5581356"/>
            <a:ext cx="5861539" cy="1077218"/>
          </a:xfrm>
          <a:prstGeom prst="rect">
            <a:avLst/>
          </a:prstGeom>
          <a:noFill/>
        </p:spPr>
        <p:txBody>
          <a:bodyPr wrap="square" rtlCol="0">
            <a:spAutoFit/>
          </a:bodyPr>
          <a:lstStyle/>
          <a:p>
            <a:r>
              <a:rPr lang="es-CO" sz="1600" b="1" dirty="0">
                <a:solidFill>
                  <a:schemeClr val="tx1">
                    <a:lumMod val="75000"/>
                    <a:lumOff val="25000"/>
                  </a:schemeClr>
                </a:solidFill>
              </a:rPr>
              <a:t>Nombre: Mario Ramos</a:t>
            </a:r>
          </a:p>
          <a:p>
            <a:r>
              <a:rPr lang="es-CO" sz="1600" b="1" dirty="0">
                <a:solidFill>
                  <a:schemeClr val="tx1">
                    <a:lumMod val="75000"/>
                    <a:lumOff val="25000"/>
                  </a:schemeClr>
                </a:solidFill>
              </a:rPr>
              <a:t>Rol: Analista de Datos</a:t>
            </a:r>
          </a:p>
          <a:p>
            <a:r>
              <a:rPr lang="es-CO" sz="1600" b="1" dirty="0">
                <a:solidFill>
                  <a:schemeClr val="tx1">
                    <a:lumMod val="75000"/>
                    <a:lumOff val="25000"/>
                  </a:schemeClr>
                </a:solidFill>
              </a:rPr>
              <a:t>Herramientas: Python (pandas, matplotlib, statsmodels) · Modelos de series temporales (SARIMA)</a:t>
            </a:r>
          </a:p>
        </p:txBody>
      </p:sp>
    </p:spTree>
    <p:extLst>
      <p:ext uri="{BB962C8B-B14F-4D97-AF65-F5344CB8AC3E}">
        <p14:creationId xmlns:p14="http://schemas.microsoft.com/office/powerpoint/2010/main" val="2102504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EFC3C6-1775-F44B-A1CC-DEFD1467D240}"/>
              </a:ext>
            </a:extLst>
          </p:cNvPr>
          <p:cNvSpPr>
            <a:spLocks noGrp="1"/>
          </p:cNvSpPr>
          <p:nvPr>
            <p:ph type="title"/>
          </p:nvPr>
        </p:nvSpPr>
        <p:spPr/>
        <p:txBody>
          <a:bodyPr>
            <a:normAutofit/>
          </a:bodyPr>
          <a:lstStyle/>
          <a:p>
            <a:r>
              <a:rPr lang="es-CO" sz="3200" dirty="0">
                <a:solidFill>
                  <a:schemeClr val="tx1"/>
                </a:solidFill>
              </a:rPr>
              <a:t>Objetivo del proyecto</a:t>
            </a:r>
          </a:p>
        </p:txBody>
      </p:sp>
      <p:sp>
        <p:nvSpPr>
          <p:cNvPr id="4" name="Rectangle 1">
            <a:extLst>
              <a:ext uri="{FF2B5EF4-FFF2-40B4-BE49-F238E27FC236}">
                <a16:creationId xmlns:a16="http://schemas.microsoft.com/office/drawing/2014/main" id="{F1DC250E-54D2-91EB-5D13-D69F1F5DA27E}"/>
              </a:ext>
            </a:extLst>
          </p:cNvPr>
          <p:cNvSpPr>
            <a:spLocks noGrp="1" noChangeArrowheads="1"/>
          </p:cNvSpPr>
          <p:nvPr>
            <p:ph idx="1"/>
          </p:nvPr>
        </p:nvSpPr>
        <p:spPr bwMode="auto">
          <a:xfrm>
            <a:off x="676656" y="2668091"/>
            <a:ext cx="617438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Analizar los patrones temporales del consumo energético.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Identificar tendencias, estacionalidad y posibles anomalías.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Evaluar si el consumo puede ser modelado de forma predictiva.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Comparar enfoques simples y modelos de series de tiempo.</a:t>
            </a:r>
          </a:p>
        </p:txBody>
      </p:sp>
    </p:spTree>
    <p:extLst>
      <p:ext uri="{BB962C8B-B14F-4D97-AF65-F5344CB8AC3E}">
        <p14:creationId xmlns:p14="http://schemas.microsoft.com/office/powerpoint/2010/main" val="3880967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562F2-E239-D004-77B0-85DEB30D2327}"/>
              </a:ext>
            </a:extLst>
          </p:cNvPr>
          <p:cNvSpPr>
            <a:spLocks noGrp="1"/>
          </p:cNvSpPr>
          <p:nvPr>
            <p:ph type="title"/>
          </p:nvPr>
        </p:nvSpPr>
        <p:spPr/>
        <p:txBody>
          <a:bodyPr>
            <a:normAutofit/>
          </a:bodyPr>
          <a:lstStyle/>
          <a:p>
            <a:r>
              <a:rPr lang="es-CO" sz="3200" dirty="0">
                <a:solidFill>
                  <a:schemeClr val="tx1"/>
                </a:solidFill>
              </a:rPr>
              <a:t>Preguntas de análisis</a:t>
            </a:r>
          </a:p>
        </p:txBody>
      </p:sp>
      <p:sp>
        <p:nvSpPr>
          <p:cNvPr id="4" name="Rectangle 1">
            <a:extLst>
              <a:ext uri="{FF2B5EF4-FFF2-40B4-BE49-F238E27FC236}">
                <a16:creationId xmlns:a16="http://schemas.microsoft.com/office/drawing/2014/main" id="{CF8150E7-B6A0-6931-44CB-F9B43DD70E96}"/>
              </a:ext>
            </a:extLst>
          </p:cNvPr>
          <p:cNvSpPr>
            <a:spLocks noGrp="1" noChangeArrowheads="1"/>
          </p:cNvSpPr>
          <p:nvPr>
            <p:ph idx="1"/>
          </p:nvPr>
        </p:nvSpPr>
        <p:spPr bwMode="auto">
          <a:xfrm>
            <a:off x="676656" y="2668091"/>
            <a:ext cx="688438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¿Existen patrones temporales claros en el consumo energético?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¿Se observan anomalías o comportamientos atípicos?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¿Qué tan predecible es el consumo a partir de su historial?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¿Qué modelo ofrece el mejor balance entre precisión e interpretación?</a:t>
            </a:r>
          </a:p>
        </p:txBody>
      </p:sp>
    </p:spTree>
    <p:extLst>
      <p:ext uri="{BB962C8B-B14F-4D97-AF65-F5344CB8AC3E}">
        <p14:creationId xmlns:p14="http://schemas.microsoft.com/office/powerpoint/2010/main" val="2032346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3841B-3B0A-AD16-13C2-18DDE058DD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300A90-A8CE-BDA1-433E-97520F0EF44A}"/>
              </a:ext>
            </a:extLst>
          </p:cNvPr>
          <p:cNvSpPr>
            <a:spLocks noGrp="1"/>
          </p:cNvSpPr>
          <p:nvPr>
            <p:ph type="title"/>
          </p:nvPr>
        </p:nvSpPr>
        <p:spPr>
          <a:xfrm>
            <a:off x="660788" y="499533"/>
            <a:ext cx="10347171" cy="1658198"/>
          </a:xfrm>
        </p:spPr>
        <p:txBody>
          <a:bodyPr>
            <a:normAutofit/>
          </a:bodyPr>
          <a:lstStyle/>
          <a:p>
            <a:r>
              <a:rPr lang="es-MX" sz="3200" dirty="0">
                <a:solidFill>
                  <a:schemeClr val="tx1"/>
                </a:solidFill>
              </a:rPr>
              <a:t>Datos utilizados en el análisis</a:t>
            </a:r>
            <a:endParaRPr lang="es-CO" sz="3200" dirty="0">
              <a:solidFill>
                <a:schemeClr val="tx1"/>
              </a:solidFill>
            </a:endParaRPr>
          </a:p>
        </p:txBody>
      </p:sp>
      <p:sp>
        <p:nvSpPr>
          <p:cNvPr id="12" name="Rectangle 8">
            <a:extLst>
              <a:ext uri="{FF2B5EF4-FFF2-40B4-BE49-F238E27FC236}">
                <a16:creationId xmlns:a16="http://schemas.microsoft.com/office/drawing/2014/main" id="{4852100D-3B24-7C71-E8A2-F55F47296BD3}"/>
              </a:ext>
            </a:extLst>
          </p:cNvPr>
          <p:cNvSpPr>
            <a:spLocks noGrp="1" noChangeArrowheads="1"/>
          </p:cNvSpPr>
          <p:nvPr>
            <p:ph idx="1"/>
          </p:nvPr>
        </p:nvSpPr>
        <p:spPr bwMode="auto">
          <a:xfrm>
            <a:off x="674856" y="2668109"/>
            <a:ext cx="900560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Serie temporal de consumo energético con frecuencia mensual.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Datos históricos comprendidos entre varios años consecutivos.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El consumo fue agregado a nivel mensual para reducir ruido y resaltar patrones.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No se incluyeron variables externas; el análisis se basa únicamente en el historial de consumo.</a:t>
            </a:r>
          </a:p>
        </p:txBody>
      </p:sp>
    </p:spTree>
    <p:extLst>
      <p:ext uri="{BB962C8B-B14F-4D97-AF65-F5344CB8AC3E}">
        <p14:creationId xmlns:p14="http://schemas.microsoft.com/office/powerpoint/2010/main" val="2481617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8A71E1-DC69-136D-6D0E-F72FCD8E1E48}"/>
              </a:ext>
            </a:extLst>
          </p:cNvPr>
          <p:cNvSpPr>
            <a:spLocks noGrp="1"/>
          </p:cNvSpPr>
          <p:nvPr>
            <p:ph type="title"/>
          </p:nvPr>
        </p:nvSpPr>
        <p:spPr/>
        <p:txBody>
          <a:bodyPr>
            <a:normAutofit/>
          </a:bodyPr>
          <a:lstStyle/>
          <a:p>
            <a:r>
              <a:rPr lang="es-CO" sz="3200" dirty="0">
                <a:solidFill>
                  <a:schemeClr val="tx1"/>
                </a:solidFill>
              </a:rPr>
              <a:t>Análisis exploratorio del consumo</a:t>
            </a:r>
          </a:p>
        </p:txBody>
      </p:sp>
      <p:sp>
        <p:nvSpPr>
          <p:cNvPr id="4" name="Rectangle 1">
            <a:extLst>
              <a:ext uri="{FF2B5EF4-FFF2-40B4-BE49-F238E27FC236}">
                <a16:creationId xmlns:a16="http://schemas.microsoft.com/office/drawing/2014/main" id="{5FF262C1-EA4D-DEA6-AD13-7F2265FDF8E9}"/>
              </a:ext>
            </a:extLst>
          </p:cNvPr>
          <p:cNvSpPr>
            <a:spLocks noGrp="1" noChangeArrowheads="1"/>
          </p:cNvSpPr>
          <p:nvPr>
            <p:ph idx="1"/>
          </p:nvPr>
        </p:nvSpPr>
        <p:spPr bwMode="auto">
          <a:xfrm>
            <a:off x="677593" y="2435483"/>
            <a:ext cx="340203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Presencia de un patrón estacional recurrente.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Mayor consumo en meses fríos y menor en meses cálidos.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Tendencia general estable a lo largo del tiempo.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Variabilidad mensual consistente.</a:t>
            </a:r>
          </a:p>
        </p:txBody>
      </p:sp>
      <p:pic>
        <p:nvPicPr>
          <p:cNvPr id="7" name="Marcador de contenido 5">
            <a:extLst>
              <a:ext uri="{FF2B5EF4-FFF2-40B4-BE49-F238E27FC236}">
                <a16:creationId xmlns:a16="http://schemas.microsoft.com/office/drawing/2014/main" id="{ECB9EF34-6685-F412-2607-3E2DC97649F6}"/>
              </a:ext>
            </a:extLst>
          </p:cNvPr>
          <p:cNvPicPr>
            <a:picLocks noChangeAspect="1"/>
          </p:cNvPicPr>
          <p:nvPr/>
        </p:nvPicPr>
        <p:blipFill>
          <a:blip r:embed="rId3"/>
          <a:stretch>
            <a:fillRect/>
          </a:stretch>
        </p:blipFill>
        <p:spPr>
          <a:xfrm>
            <a:off x="4377012" y="2157731"/>
            <a:ext cx="7510188" cy="3387033"/>
          </a:xfrm>
          <a:prstGeom prst="rect">
            <a:avLst/>
          </a:prstGeom>
        </p:spPr>
      </p:pic>
    </p:spTree>
    <p:extLst>
      <p:ext uri="{BB962C8B-B14F-4D97-AF65-F5344CB8AC3E}">
        <p14:creationId xmlns:p14="http://schemas.microsoft.com/office/powerpoint/2010/main" val="2034131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B98AF-5C9B-8D2F-5EC9-DE1808624F2F}"/>
              </a:ext>
            </a:extLst>
          </p:cNvPr>
          <p:cNvSpPr>
            <a:spLocks noGrp="1"/>
          </p:cNvSpPr>
          <p:nvPr>
            <p:ph type="title"/>
          </p:nvPr>
        </p:nvSpPr>
        <p:spPr>
          <a:xfrm>
            <a:off x="676657" y="982493"/>
            <a:ext cx="10772775" cy="1146385"/>
          </a:xfrm>
        </p:spPr>
        <p:txBody>
          <a:bodyPr>
            <a:normAutofit/>
          </a:bodyPr>
          <a:lstStyle/>
          <a:p>
            <a:r>
              <a:rPr lang="es-MX" sz="3200" dirty="0">
                <a:solidFill>
                  <a:schemeClr val="tx1"/>
                </a:solidFill>
              </a:rPr>
              <a:t>Anomalías y comportamientos atípicos</a:t>
            </a:r>
            <a:br>
              <a:rPr lang="es-MX" sz="3200" dirty="0">
                <a:solidFill>
                  <a:schemeClr val="tx1"/>
                </a:solidFill>
              </a:rPr>
            </a:br>
            <a:endParaRPr lang="es-CO" sz="3200" dirty="0">
              <a:solidFill>
                <a:schemeClr val="tx1"/>
              </a:solidFill>
            </a:endParaRPr>
          </a:p>
        </p:txBody>
      </p:sp>
      <p:sp>
        <p:nvSpPr>
          <p:cNvPr id="4" name="Rectangle 1">
            <a:extLst>
              <a:ext uri="{FF2B5EF4-FFF2-40B4-BE49-F238E27FC236}">
                <a16:creationId xmlns:a16="http://schemas.microsoft.com/office/drawing/2014/main" id="{154D15AD-06EC-2894-F110-3FB627FE3BCD}"/>
              </a:ext>
            </a:extLst>
          </p:cNvPr>
          <p:cNvSpPr>
            <a:spLocks noGrp="1" noChangeArrowheads="1"/>
          </p:cNvSpPr>
          <p:nvPr>
            <p:ph idx="1"/>
          </p:nvPr>
        </p:nvSpPr>
        <p:spPr bwMode="auto">
          <a:xfrm>
            <a:off x="676657" y="2325113"/>
            <a:ext cx="370035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Caídas inusuales del consumo en meses específicos.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lang="es-MX" sz="1800" dirty="0"/>
              <a:t>Destaca una disminución sostenida en septiembre de 2008.</a:t>
            </a:r>
          </a:p>
          <a:p>
            <a:pPr marL="0" lvl="0" indent="0" eaLnBrk="0" fontAlgn="base" hangingPunct="0">
              <a:lnSpc>
                <a:spcPct val="100000"/>
              </a:lnSpc>
              <a:spcBef>
                <a:spcPct val="0"/>
              </a:spcBef>
              <a:spcAft>
                <a:spcPct val="0"/>
              </a:spcAft>
              <a:buFontTx/>
              <a:buChar char="•"/>
            </a:pPr>
            <a:endParaRPr lang="es-MX" sz="1800" dirty="0"/>
          </a:p>
          <a:p>
            <a:pPr marL="0" lvl="0" indent="0" eaLnBrk="0" fontAlgn="base" hangingPunct="0">
              <a:lnSpc>
                <a:spcPct val="100000"/>
              </a:lnSpc>
              <a:spcBef>
                <a:spcPct val="0"/>
              </a:spcBef>
              <a:spcAft>
                <a:spcPct val="0"/>
              </a:spcAft>
              <a:buFontTx/>
              <a:buChar char="•"/>
            </a:pPr>
            <a:r>
              <a:rPr lang="es-MX" sz="1800" dirty="0"/>
              <a:t>En 2010 se observa una caída similar, aunque menos pronunciada.</a:t>
            </a: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Eventos no explicados por la estacionalidad regular.</a:t>
            </a:r>
          </a:p>
        </p:txBody>
      </p:sp>
      <p:pic>
        <p:nvPicPr>
          <p:cNvPr id="5" name="Marcador de contenido 5">
            <a:extLst>
              <a:ext uri="{FF2B5EF4-FFF2-40B4-BE49-F238E27FC236}">
                <a16:creationId xmlns:a16="http://schemas.microsoft.com/office/drawing/2014/main" id="{37311FCD-33FE-8C8A-22C7-6868BB722B36}"/>
              </a:ext>
            </a:extLst>
          </p:cNvPr>
          <p:cNvPicPr>
            <a:picLocks noChangeAspect="1"/>
          </p:cNvPicPr>
          <p:nvPr/>
        </p:nvPicPr>
        <p:blipFill>
          <a:blip r:embed="rId3"/>
          <a:stretch>
            <a:fillRect/>
          </a:stretch>
        </p:blipFill>
        <p:spPr>
          <a:xfrm>
            <a:off x="4377012" y="2157731"/>
            <a:ext cx="7496119" cy="3387033"/>
          </a:xfrm>
          <a:prstGeom prst="rect">
            <a:avLst/>
          </a:prstGeom>
        </p:spPr>
      </p:pic>
      <p:sp>
        <p:nvSpPr>
          <p:cNvPr id="6" name="Elipse 5">
            <a:extLst>
              <a:ext uri="{FF2B5EF4-FFF2-40B4-BE49-F238E27FC236}">
                <a16:creationId xmlns:a16="http://schemas.microsoft.com/office/drawing/2014/main" id="{D52D6754-D725-CB8B-93A1-E7958B49F32C}"/>
              </a:ext>
            </a:extLst>
          </p:cNvPr>
          <p:cNvSpPr/>
          <p:nvPr/>
        </p:nvSpPr>
        <p:spPr>
          <a:xfrm>
            <a:off x="7668234" y="4825218"/>
            <a:ext cx="323557" cy="337625"/>
          </a:xfrm>
          <a:prstGeom prst="ellipse">
            <a:avLst/>
          </a:prstGeom>
          <a:solidFill>
            <a:srgbClr val="FF0000">
              <a:alpha val="3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Elipse 6">
            <a:extLst>
              <a:ext uri="{FF2B5EF4-FFF2-40B4-BE49-F238E27FC236}">
                <a16:creationId xmlns:a16="http://schemas.microsoft.com/office/drawing/2014/main" id="{544EE04F-89B6-A3AE-00BB-7319D22B230D}"/>
              </a:ext>
            </a:extLst>
          </p:cNvPr>
          <p:cNvSpPr/>
          <p:nvPr/>
        </p:nvSpPr>
        <p:spPr>
          <a:xfrm>
            <a:off x="10868632" y="4349260"/>
            <a:ext cx="323557" cy="337625"/>
          </a:xfrm>
          <a:prstGeom prst="ellipse">
            <a:avLst/>
          </a:prstGeom>
          <a:solidFill>
            <a:srgbClr val="FF0000">
              <a:alpha val="3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902620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851F9-CD36-95BF-CBE1-101DEA3CB7A2}"/>
              </a:ext>
            </a:extLst>
          </p:cNvPr>
          <p:cNvSpPr>
            <a:spLocks noGrp="1"/>
          </p:cNvSpPr>
          <p:nvPr>
            <p:ph type="title"/>
          </p:nvPr>
        </p:nvSpPr>
        <p:spPr/>
        <p:txBody>
          <a:bodyPr>
            <a:normAutofit/>
          </a:bodyPr>
          <a:lstStyle/>
          <a:p>
            <a:r>
              <a:rPr lang="es-CO" sz="3200" dirty="0">
                <a:solidFill>
                  <a:schemeClr val="tx1"/>
                </a:solidFill>
              </a:rPr>
              <a:t>Dependencia temporal del consumo energético</a:t>
            </a:r>
          </a:p>
        </p:txBody>
      </p:sp>
      <p:sp>
        <p:nvSpPr>
          <p:cNvPr id="10" name="Rectangle 1">
            <a:extLst>
              <a:ext uri="{FF2B5EF4-FFF2-40B4-BE49-F238E27FC236}">
                <a16:creationId xmlns:a16="http://schemas.microsoft.com/office/drawing/2014/main" id="{D4A6108F-3BC0-1B47-3B63-C9F17B83DDD9}"/>
              </a:ext>
            </a:extLst>
          </p:cNvPr>
          <p:cNvSpPr>
            <a:spLocks noGrp="1" noChangeArrowheads="1"/>
          </p:cNvSpPr>
          <p:nvPr>
            <p:ph idx="1"/>
          </p:nvPr>
        </p:nvSpPr>
        <p:spPr bwMode="auto">
          <a:xfrm>
            <a:off x="676656" y="2602113"/>
            <a:ext cx="480974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s-CO" altLang="es-CO" sz="1800" dirty="0">
                <a:solidFill>
                  <a:schemeClr val="tx1"/>
                </a:solidFill>
              </a:rPr>
              <a:t>Correlación significativa en Lag 1, lo que indica que el consumo mensual esta influenciado por el mes anterior.</a:t>
            </a:r>
          </a:p>
          <a:p>
            <a:pPr marL="0" indent="0" eaLnBrk="0" fontAlgn="base" hangingPunct="0">
              <a:lnSpc>
                <a:spcPct val="100000"/>
              </a:lnSpc>
              <a:spcBef>
                <a:spcPct val="0"/>
              </a:spcBef>
              <a:spcAft>
                <a:spcPct val="0"/>
              </a:spcAft>
              <a:buFontTx/>
              <a:buChar char="•"/>
            </a:pPr>
            <a:endParaRPr lang="es-CO" altLang="es-CO" sz="1800" dirty="0">
              <a:solidFill>
                <a:schemeClr val="tx1"/>
              </a:solidFill>
            </a:endParaRPr>
          </a:p>
          <a:p>
            <a:pPr marL="0" indent="0" eaLnBrk="0" fontAlgn="base" hangingPunct="0">
              <a:lnSpc>
                <a:spcPct val="100000"/>
              </a:lnSpc>
              <a:spcBef>
                <a:spcPct val="0"/>
              </a:spcBef>
              <a:spcAft>
                <a:spcPct val="0"/>
              </a:spcAft>
              <a:buFontTx/>
              <a:buChar char="•"/>
            </a:pPr>
            <a:r>
              <a:rPr lang="es-CO" altLang="es-CO" sz="1800" dirty="0">
                <a:solidFill>
                  <a:schemeClr val="tx1"/>
                </a:solidFill>
              </a:rPr>
              <a:t>Correlación significativa en Lag 12, confirmando presencia de estacionalidad anual.</a:t>
            </a:r>
          </a:p>
          <a:p>
            <a:pPr marL="0" indent="0" eaLnBrk="0" fontAlgn="base" hangingPunct="0">
              <a:lnSpc>
                <a:spcPct val="100000"/>
              </a:lnSpc>
              <a:spcBef>
                <a:spcPct val="0"/>
              </a:spcBef>
              <a:spcAft>
                <a:spcPct val="0"/>
              </a:spcAft>
              <a:buFontTx/>
              <a:buChar char="•"/>
            </a:pPr>
            <a:endParaRPr lang="es-CO" altLang="es-CO" sz="1800" dirty="0">
              <a:solidFill>
                <a:schemeClr val="tx1"/>
              </a:solidFill>
            </a:endParaRPr>
          </a:p>
          <a:p>
            <a:pPr marL="0" indent="0" eaLnBrk="0" fontAlgn="base" hangingPunct="0">
              <a:lnSpc>
                <a:spcPct val="100000"/>
              </a:lnSpc>
              <a:spcBef>
                <a:spcPct val="0"/>
              </a:spcBef>
              <a:spcAft>
                <a:spcPct val="0"/>
              </a:spcAft>
              <a:buFontTx/>
              <a:buChar char="•"/>
            </a:pPr>
            <a:r>
              <a:rPr lang="es-MX" sz="1800" dirty="0"/>
              <a:t>Justificación del uso de modelos temporales (SARIMA).</a:t>
            </a:r>
            <a:endParaRPr lang="es-CO" altLang="es-CO" sz="1800" dirty="0">
              <a:solidFill>
                <a:schemeClr val="tx1"/>
              </a:solidFill>
            </a:endParaRPr>
          </a:p>
        </p:txBody>
      </p:sp>
      <p:pic>
        <p:nvPicPr>
          <p:cNvPr id="12" name="Imagen 11">
            <a:extLst>
              <a:ext uri="{FF2B5EF4-FFF2-40B4-BE49-F238E27FC236}">
                <a16:creationId xmlns:a16="http://schemas.microsoft.com/office/drawing/2014/main" id="{91440D6D-F00E-7516-B8BA-D7AF1BB19C39}"/>
              </a:ext>
            </a:extLst>
          </p:cNvPr>
          <p:cNvPicPr>
            <a:picLocks noChangeAspect="1"/>
          </p:cNvPicPr>
          <p:nvPr/>
        </p:nvPicPr>
        <p:blipFill>
          <a:blip r:embed="rId3"/>
          <a:stretch>
            <a:fillRect/>
          </a:stretch>
        </p:blipFill>
        <p:spPr>
          <a:xfrm>
            <a:off x="5585460" y="1823085"/>
            <a:ext cx="6189198" cy="4143375"/>
          </a:xfrm>
          <a:prstGeom prst="rect">
            <a:avLst/>
          </a:prstGeom>
        </p:spPr>
      </p:pic>
      <p:sp>
        <p:nvSpPr>
          <p:cNvPr id="13" name="Elipse 12">
            <a:extLst>
              <a:ext uri="{FF2B5EF4-FFF2-40B4-BE49-F238E27FC236}">
                <a16:creationId xmlns:a16="http://schemas.microsoft.com/office/drawing/2014/main" id="{2593CB3B-6368-34AA-A755-9E5BDF424A48}"/>
              </a:ext>
            </a:extLst>
          </p:cNvPr>
          <p:cNvSpPr/>
          <p:nvPr/>
        </p:nvSpPr>
        <p:spPr>
          <a:xfrm>
            <a:off x="6372664" y="1997612"/>
            <a:ext cx="253218" cy="295422"/>
          </a:xfrm>
          <a:prstGeom prst="ellipse">
            <a:avLst/>
          </a:prstGeom>
          <a:solidFill>
            <a:srgbClr val="92D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Elipse 13">
            <a:extLst>
              <a:ext uri="{FF2B5EF4-FFF2-40B4-BE49-F238E27FC236}">
                <a16:creationId xmlns:a16="http://schemas.microsoft.com/office/drawing/2014/main" id="{E4D2AD0C-C0DC-9504-151F-3A2412472284}"/>
              </a:ext>
            </a:extLst>
          </p:cNvPr>
          <p:cNvSpPr/>
          <p:nvPr/>
        </p:nvSpPr>
        <p:spPr>
          <a:xfrm>
            <a:off x="8775894" y="2630249"/>
            <a:ext cx="253218" cy="295422"/>
          </a:xfrm>
          <a:prstGeom prst="ellipse">
            <a:avLst/>
          </a:prstGeom>
          <a:solidFill>
            <a:srgbClr val="92D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CuadroTexto 14">
            <a:extLst>
              <a:ext uri="{FF2B5EF4-FFF2-40B4-BE49-F238E27FC236}">
                <a16:creationId xmlns:a16="http://schemas.microsoft.com/office/drawing/2014/main" id="{75A78933-B9FC-15D3-4E05-A892986A3A20}"/>
              </a:ext>
            </a:extLst>
          </p:cNvPr>
          <p:cNvSpPr txBox="1"/>
          <p:nvPr/>
        </p:nvSpPr>
        <p:spPr>
          <a:xfrm>
            <a:off x="6442998" y="2236762"/>
            <a:ext cx="606256" cy="338554"/>
          </a:xfrm>
          <a:prstGeom prst="rect">
            <a:avLst/>
          </a:prstGeom>
          <a:noFill/>
        </p:spPr>
        <p:txBody>
          <a:bodyPr wrap="none" rtlCol="0">
            <a:spAutoFit/>
          </a:bodyPr>
          <a:lstStyle/>
          <a:p>
            <a:r>
              <a:rPr lang="es-CO" sz="1600" b="1" dirty="0">
                <a:solidFill>
                  <a:srgbClr val="00B050"/>
                </a:solidFill>
              </a:rPr>
              <a:t>Lag 1</a:t>
            </a:r>
          </a:p>
        </p:txBody>
      </p:sp>
      <p:sp>
        <p:nvSpPr>
          <p:cNvPr id="16" name="CuadroTexto 15">
            <a:extLst>
              <a:ext uri="{FF2B5EF4-FFF2-40B4-BE49-F238E27FC236}">
                <a16:creationId xmlns:a16="http://schemas.microsoft.com/office/drawing/2014/main" id="{9E28313B-F0A4-9735-A3BA-6DC6184195FD}"/>
              </a:ext>
            </a:extLst>
          </p:cNvPr>
          <p:cNvSpPr txBox="1"/>
          <p:nvPr/>
        </p:nvSpPr>
        <p:spPr>
          <a:xfrm>
            <a:off x="8550808" y="2318822"/>
            <a:ext cx="708848" cy="338554"/>
          </a:xfrm>
          <a:prstGeom prst="rect">
            <a:avLst/>
          </a:prstGeom>
          <a:noFill/>
        </p:spPr>
        <p:txBody>
          <a:bodyPr wrap="none" rtlCol="0">
            <a:spAutoFit/>
          </a:bodyPr>
          <a:lstStyle/>
          <a:p>
            <a:r>
              <a:rPr lang="es-CO" sz="1600" b="1" dirty="0">
                <a:solidFill>
                  <a:srgbClr val="00B050"/>
                </a:solidFill>
              </a:rPr>
              <a:t>Lag 12</a:t>
            </a:r>
          </a:p>
        </p:txBody>
      </p:sp>
    </p:spTree>
    <p:extLst>
      <p:ext uri="{BB962C8B-B14F-4D97-AF65-F5344CB8AC3E}">
        <p14:creationId xmlns:p14="http://schemas.microsoft.com/office/powerpoint/2010/main" val="3073700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B98B4E-AF11-E7C8-E302-57C78D2EA7F8}"/>
              </a:ext>
            </a:extLst>
          </p:cNvPr>
          <p:cNvSpPr>
            <a:spLocks noGrp="1"/>
          </p:cNvSpPr>
          <p:nvPr>
            <p:ph type="title"/>
          </p:nvPr>
        </p:nvSpPr>
        <p:spPr/>
        <p:txBody>
          <a:bodyPr>
            <a:normAutofit/>
          </a:bodyPr>
          <a:lstStyle/>
          <a:p>
            <a:r>
              <a:rPr lang="es-MX" sz="3200" dirty="0">
                <a:solidFill>
                  <a:schemeClr val="tx1"/>
                </a:solidFill>
              </a:rPr>
              <a:t>Preparación de datos para modelado</a:t>
            </a:r>
            <a:endParaRPr lang="es-CO" sz="3200" dirty="0">
              <a:solidFill>
                <a:schemeClr val="tx1"/>
              </a:solidFill>
            </a:endParaRPr>
          </a:p>
        </p:txBody>
      </p:sp>
      <p:sp>
        <p:nvSpPr>
          <p:cNvPr id="4" name="Rectangle 1">
            <a:extLst>
              <a:ext uri="{FF2B5EF4-FFF2-40B4-BE49-F238E27FC236}">
                <a16:creationId xmlns:a16="http://schemas.microsoft.com/office/drawing/2014/main" id="{169EE2C8-5EBD-6EB8-759C-CB90580F4681}"/>
              </a:ext>
            </a:extLst>
          </p:cNvPr>
          <p:cNvSpPr>
            <a:spLocks noGrp="1" noChangeArrowheads="1"/>
          </p:cNvSpPr>
          <p:nvPr>
            <p:ph idx="1"/>
          </p:nvPr>
        </p:nvSpPr>
        <p:spPr bwMode="auto">
          <a:xfrm>
            <a:off x="676656" y="2668091"/>
            <a:ext cx="482388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Agregación temporal mensual.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Creación de variables rezagadas (lags).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Separación de datos en entrenamiento y prueba.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Validación de estacionariedad de la serie.</a:t>
            </a:r>
          </a:p>
        </p:txBody>
      </p:sp>
    </p:spTree>
    <p:extLst>
      <p:ext uri="{BB962C8B-B14F-4D97-AF65-F5344CB8AC3E}">
        <p14:creationId xmlns:p14="http://schemas.microsoft.com/office/powerpoint/2010/main" val="212086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15E76C-91D5-5871-CCA1-451727E74022}"/>
              </a:ext>
            </a:extLst>
          </p:cNvPr>
          <p:cNvSpPr>
            <a:spLocks noGrp="1"/>
          </p:cNvSpPr>
          <p:nvPr>
            <p:ph type="title"/>
          </p:nvPr>
        </p:nvSpPr>
        <p:spPr/>
        <p:txBody>
          <a:bodyPr>
            <a:normAutofit/>
          </a:bodyPr>
          <a:lstStyle/>
          <a:p>
            <a:r>
              <a:rPr lang="es-MX" sz="3200" dirty="0">
                <a:solidFill>
                  <a:schemeClr val="tx1"/>
                </a:solidFill>
              </a:rPr>
              <a:t>Modelo base: regresión con rezagos</a:t>
            </a:r>
            <a:endParaRPr lang="es-CO" sz="3200" dirty="0">
              <a:solidFill>
                <a:schemeClr val="tx1"/>
              </a:solidFill>
            </a:endParaRPr>
          </a:p>
        </p:txBody>
      </p:sp>
      <p:sp>
        <p:nvSpPr>
          <p:cNvPr id="4" name="Rectangle 1">
            <a:extLst>
              <a:ext uri="{FF2B5EF4-FFF2-40B4-BE49-F238E27FC236}">
                <a16:creationId xmlns:a16="http://schemas.microsoft.com/office/drawing/2014/main" id="{CE415A6C-AAB7-4C83-5DB8-AA061FDCC581}"/>
              </a:ext>
            </a:extLst>
          </p:cNvPr>
          <p:cNvSpPr>
            <a:spLocks noGrp="1" noChangeArrowheads="1"/>
          </p:cNvSpPr>
          <p:nvPr>
            <p:ph idx="1"/>
          </p:nvPr>
        </p:nvSpPr>
        <p:spPr bwMode="auto">
          <a:xfrm>
            <a:off x="676656" y="2668091"/>
            <a:ext cx="508594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Modelo de regresión lineal usando lags temporales.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Predicciones coherentes en orden de magnitud.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Buen desempeño como modelo de referencia.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Alta interpretabilidad.</a:t>
            </a:r>
          </a:p>
        </p:txBody>
      </p:sp>
    </p:spTree>
    <p:extLst>
      <p:ext uri="{BB962C8B-B14F-4D97-AF65-F5344CB8AC3E}">
        <p14:creationId xmlns:p14="http://schemas.microsoft.com/office/powerpoint/2010/main" val="2466160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7FA5F3-BC3A-3A72-C7B4-6DE012338D2A}"/>
              </a:ext>
            </a:extLst>
          </p:cNvPr>
          <p:cNvSpPr>
            <a:spLocks noGrp="1"/>
          </p:cNvSpPr>
          <p:nvPr>
            <p:ph type="title"/>
          </p:nvPr>
        </p:nvSpPr>
        <p:spPr/>
        <p:txBody>
          <a:bodyPr>
            <a:normAutofit/>
          </a:bodyPr>
          <a:lstStyle/>
          <a:p>
            <a:r>
              <a:rPr lang="es-CO" sz="3200" dirty="0">
                <a:solidFill>
                  <a:schemeClr val="tx1"/>
                </a:solidFill>
              </a:rPr>
              <a:t>Modelo avanzado: SARIMA</a:t>
            </a:r>
          </a:p>
        </p:txBody>
      </p:sp>
      <p:sp>
        <p:nvSpPr>
          <p:cNvPr id="4" name="Rectangle 1">
            <a:extLst>
              <a:ext uri="{FF2B5EF4-FFF2-40B4-BE49-F238E27FC236}">
                <a16:creationId xmlns:a16="http://schemas.microsoft.com/office/drawing/2014/main" id="{1DDFC59B-9B90-8F09-D91D-B58D72D51022}"/>
              </a:ext>
            </a:extLst>
          </p:cNvPr>
          <p:cNvSpPr>
            <a:spLocks noGrp="1" noChangeArrowheads="1"/>
          </p:cNvSpPr>
          <p:nvPr>
            <p:ph idx="1"/>
          </p:nvPr>
        </p:nvSpPr>
        <p:spPr bwMode="auto">
          <a:xfrm>
            <a:off x="676656" y="2668091"/>
            <a:ext cx="466672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Modelo específico para series temporales.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Captura tendencia y estacionalidad.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Mejor ajuste a patrones temporales complejos.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Evaluado con métricas de error.</a:t>
            </a:r>
          </a:p>
        </p:txBody>
      </p:sp>
    </p:spTree>
    <p:extLst>
      <p:ext uri="{BB962C8B-B14F-4D97-AF65-F5344CB8AC3E}">
        <p14:creationId xmlns:p14="http://schemas.microsoft.com/office/powerpoint/2010/main" val="22767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DB42AF-9D9E-EB97-1CA2-D811E6014F62}"/>
              </a:ext>
            </a:extLst>
          </p:cNvPr>
          <p:cNvSpPr>
            <a:spLocks noGrp="1"/>
          </p:cNvSpPr>
          <p:nvPr>
            <p:ph type="title"/>
          </p:nvPr>
        </p:nvSpPr>
        <p:spPr/>
        <p:txBody>
          <a:bodyPr>
            <a:normAutofit/>
          </a:bodyPr>
          <a:lstStyle/>
          <a:p>
            <a:r>
              <a:rPr lang="es-CO" sz="3200" dirty="0">
                <a:solidFill>
                  <a:schemeClr val="tx1"/>
                </a:solidFill>
              </a:rPr>
              <a:t>Comparación de modelos Predictivos</a:t>
            </a:r>
          </a:p>
        </p:txBody>
      </p:sp>
      <p:sp>
        <p:nvSpPr>
          <p:cNvPr id="4" name="Rectangle 1">
            <a:extLst>
              <a:ext uri="{FF2B5EF4-FFF2-40B4-BE49-F238E27FC236}">
                <a16:creationId xmlns:a16="http://schemas.microsoft.com/office/drawing/2014/main" id="{7184BAB2-FCC0-A3AE-706E-0CB97D30E347}"/>
              </a:ext>
            </a:extLst>
          </p:cNvPr>
          <p:cNvSpPr>
            <a:spLocks noGrp="1" noChangeArrowheads="1"/>
          </p:cNvSpPr>
          <p:nvPr>
            <p:ph idx="1"/>
          </p:nvPr>
        </p:nvSpPr>
        <p:spPr bwMode="auto">
          <a:xfrm>
            <a:off x="657223" y="4100466"/>
            <a:ext cx="10877552" cy="261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s-MX" sz="1800" b="1" dirty="0"/>
              <a:t>Resultados comparativos</a:t>
            </a:r>
            <a:endParaRPr lang="es-MX" sz="1800" dirty="0"/>
          </a:p>
          <a:p>
            <a:pPr>
              <a:buFont typeface="Arial" panose="020B0604020202020204" pitchFamily="34" charset="0"/>
              <a:buChar char="•"/>
            </a:pPr>
            <a:r>
              <a:rPr lang="es-MX" sz="1800" dirty="0"/>
              <a:t>El modelo </a:t>
            </a:r>
            <a:r>
              <a:rPr lang="es-MX" sz="1800" b="1" dirty="0"/>
              <a:t>baseline</a:t>
            </a:r>
            <a:r>
              <a:rPr lang="es-MX" sz="1800" dirty="0"/>
              <a:t> presenta el mayor error y sirve como referencia mínima.</a:t>
            </a:r>
          </a:p>
          <a:p>
            <a:pPr>
              <a:buFont typeface="Arial" panose="020B0604020202020204" pitchFamily="34" charset="0"/>
              <a:buChar char="•"/>
            </a:pPr>
            <a:r>
              <a:rPr lang="es-MX" sz="1800" dirty="0"/>
              <a:t>La </a:t>
            </a:r>
            <a:r>
              <a:rPr lang="es-MX" sz="1800" b="1" dirty="0"/>
              <a:t>regresión con rezagos</a:t>
            </a:r>
            <a:r>
              <a:rPr lang="es-MX" sz="1800" dirty="0"/>
              <a:t> mejora el desempeño, pero no captura completamente la estacionalidad.</a:t>
            </a:r>
          </a:p>
          <a:p>
            <a:pPr>
              <a:buFont typeface="Arial" panose="020B0604020202020204" pitchFamily="34" charset="0"/>
              <a:buChar char="•"/>
            </a:pPr>
            <a:r>
              <a:rPr lang="es-MX" sz="1800" b="1" dirty="0"/>
              <a:t>SARIMA </a:t>
            </a:r>
            <a:r>
              <a:rPr lang="es-MX" sz="1800" dirty="0"/>
              <a:t>obtiene el mejor desempeño, con menor MAE y RMSE, y mejor ajuste a los patrones temporales.</a:t>
            </a:r>
          </a:p>
          <a:p>
            <a:pPr marL="0" indent="0">
              <a:buNone/>
            </a:pPr>
            <a:endParaRPr lang="es-CO" sz="1800" b="1" dirty="0"/>
          </a:p>
          <a:p>
            <a:pPr marL="0" indent="0">
              <a:buNone/>
            </a:pPr>
            <a:r>
              <a:rPr lang="es-CO" sz="1800" b="1" dirty="0"/>
              <a:t>Modelo seleccionado:</a:t>
            </a:r>
            <a:r>
              <a:rPr lang="es-CO" sz="1800" dirty="0"/>
              <a:t> </a:t>
            </a:r>
            <a:r>
              <a:rPr lang="es-CO" sz="1800" b="1" dirty="0"/>
              <a:t>SARIMA</a:t>
            </a:r>
            <a:endParaRPr lang="es-MX" sz="1800" dirty="0"/>
          </a:p>
          <a:p>
            <a:pPr marL="0" lvl="0" indent="0" eaLnBrk="0" fontAlgn="base" hangingPunct="0">
              <a:lnSpc>
                <a:spcPct val="100000"/>
              </a:lnSpc>
              <a:spcBef>
                <a:spcPct val="0"/>
              </a:spcBef>
              <a:spcAft>
                <a:spcPct val="0"/>
              </a:spcAft>
              <a:buFontTx/>
              <a:buChar char="•"/>
            </a:pPr>
            <a:endParaRPr kumimoji="0" lang="es-CO" altLang="es-CO" sz="1800" b="0" i="0" u="none" strike="noStrike" cap="none" normalizeH="0" baseline="0" dirty="0">
              <a:ln>
                <a:noFill/>
              </a:ln>
              <a:solidFill>
                <a:schemeClr val="tx1"/>
              </a:solidFill>
              <a:effectLst/>
            </a:endParaRPr>
          </a:p>
        </p:txBody>
      </p:sp>
      <p:graphicFrame>
        <p:nvGraphicFramePr>
          <p:cNvPr id="6" name="Tabla 5">
            <a:extLst>
              <a:ext uri="{FF2B5EF4-FFF2-40B4-BE49-F238E27FC236}">
                <a16:creationId xmlns:a16="http://schemas.microsoft.com/office/drawing/2014/main" id="{5FA1AB82-C0DA-3B5C-D067-F20ED9C024F9}"/>
              </a:ext>
            </a:extLst>
          </p:cNvPr>
          <p:cNvGraphicFramePr>
            <a:graphicFrameLocks noGrp="1"/>
          </p:cNvGraphicFramePr>
          <p:nvPr>
            <p:extLst>
              <p:ext uri="{D42A27DB-BD31-4B8C-83A1-F6EECF244321}">
                <p14:modId xmlns:p14="http://schemas.microsoft.com/office/powerpoint/2010/main" val="3552521371"/>
              </p:ext>
            </p:extLst>
          </p:nvPr>
        </p:nvGraphicFramePr>
        <p:xfrm>
          <a:off x="762000" y="1807327"/>
          <a:ext cx="10772775" cy="2163992"/>
        </p:xfrm>
        <a:graphic>
          <a:graphicData uri="http://schemas.openxmlformats.org/drawingml/2006/table">
            <a:tbl>
              <a:tblPr>
                <a:tableStyleId>{5940675A-B579-460E-94D1-54222C63F5DA}</a:tableStyleId>
              </a:tblPr>
              <a:tblGrid>
                <a:gridCol w="1999487">
                  <a:extLst>
                    <a:ext uri="{9D8B030D-6E8A-4147-A177-3AD203B41FA5}">
                      <a16:colId xmlns:a16="http://schemas.microsoft.com/office/drawing/2014/main" val="285741856"/>
                    </a:ext>
                  </a:extLst>
                </a:gridCol>
                <a:gridCol w="952384">
                  <a:extLst>
                    <a:ext uri="{9D8B030D-6E8A-4147-A177-3AD203B41FA5}">
                      <a16:colId xmlns:a16="http://schemas.microsoft.com/office/drawing/2014/main" val="3934504143"/>
                    </a:ext>
                  </a:extLst>
                </a:gridCol>
                <a:gridCol w="900332">
                  <a:extLst>
                    <a:ext uri="{9D8B030D-6E8A-4147-A177-3AD203B41FA5}">
                      <a16:colId xmlns:a16="http://schemas.microsoft.com/office/drawing/2014/main" val="654419735"/>
                    </a:ext>
                  </a:extLst>
                </a:gridCol>
                <a:gridCol w="6920572">
                  <a:extLst>
                    <a:ext uri="{9D8B030D-6E8A-4147-A177-3AD203B41FA5}">
                      <a16:colId xmlns:a16="http://schemas.microsoft.com/office/drawing/2014/main" val="3011617266"/>
                    </a:ext>
                  </a:extLst>
                </a:gridCol>
              </a:tblGrid>
              <a:tr h="316712">
                <a:tc>
                  <a:txBody>
                    <a:bodyPr/>
                    <a:lstStyle/>
                    <a:p>
                      <a:pPr>
                        <a:buNone/>
                      </a:pPr>
                      <a:r>
                        <a:rPr lang="es-CO" sz="1700" b="1"/>
                        <a:t>Modelo</a:t>
                      </a:r>
                    </a:p>
                  </a:txBody>
                  <a:tcPr marL="87608" marR="87608" marT="43804" marB="43804" anchor="ctr"/>
                </a:tc>
                <a:tc>
                  <a:txBody>
                    <a:bodyPr/>
                    <a:lstStyle/>
                    <a:p>
                      <a:pPr>
                        <a:buNone/>
                      </a:pPr>
                      <a:r>
                        <a:rPr lang="es-CO" sz="1700" b="1"/>
                        <a:t>MAE</a:t>
                      </a:r>
                    </a:p>
                  </a:txBody>
                  <a:tcPr marL="87608" marR="87608" marT="43804" marB="43804" anchor="ctr"/>
                </a:tc>
                <a:tc>
                  <a:txBody>
                    <a:bodyPr/>
                    <a:lstStyle/>
                    <a:p>
                      <a:pPr>
                        <a:buNone/>
                      </a:pPr>
                      <a:r>
                        <a:rPr lang="es-CO" sz="1700" b="1" dirty="0"/>
                        <a:t>RMSE</a:t>
                      </a:r>
                    </a:p>
                  </a:txBody>
                  <a:tcPr marL="87608" marR="87608" marT="43804" marB="43804" anchor="ctr"/>
                </a:tc>
                <a:tc>
                  <a:txBody>
                    <a:bodyPr/>
                    <a:lstStyle/>
                    <a:p>
                      <a:pPr>
                        <a:buNone/>
                      </a:pPr>
                      <a:r>
                        <a:rPr lang="es-CO" sz="1700" b="1" dirty="0"/>
                        <a:t>Interpretación</a:t>
                      </a:r>
                    </a:p>
                  </a:txBody>
                  <a:tcPr marL="87608" marR="87608" marT="43804" marB="43804" anchor="ctr"/>
                </a:tc>
                <a:extLst>
                  <a:ext uri="{0D108BD9-81ED-4DB2-BD59-A6C34878D82A}">
                    <a16:rowId xmlns:a16="http://schemas.microsoft.com/office/drawing/2014/main" val="490321643"/>
                  </a:ext>
                </a:extLst>
              </a:tr>
              <a:tr h="553390">
                <a:tc>
                  <a:txBody>
                    <a:bodyPr/>
                    <a:lstStyle/>
                    <a:p>
                      <a:pPr>
                        <a:buNone/>
                      </a:pPr>
                      <a:r>
                        <a:rPr lang="es-CO" sz="1700" dirty="0"/>
                        <a:t>Baseline (Naive)</a:t>
                      </a:r>
                    </a:p>
                  </a:txBody>
                  <a:tcPr marL="87608" marR="87608" marT="43804" marB="43804" anchor="ctr"/>
                </a:tc>
                <a:tc>
                  <a:txBody>
                    <a:bodyPr/>
                    <a:lstStyle/>
                    <a:p>
                      <a:pPr>
                        <a:buNone/>
                      </a:pPr>
                      <a:r>
                        <a:rPr lang="es-CO" sz="1700" dirty="0"/>
                        <a:t>0.151</a:t>
                      </a:r>
                    </a:p>
                  </a:txBody>
                  <a:tcPr marL="87608" marR="87608" marT="43804" marB="43804" anchor="ctr"/>
                </a:tc>
                <a:tc>
                  <a:txBody>
                    <a:bodyPr/>
                    <a:lstStyle/>
                    <a:p>
                      <a:pPr>
                        <a:buNone/>
                      </a:pPr>
                      <a:r>
                        <a:rPr lang="es-CO" sz="1700" dirty="0"/>
                        <a:t>0.183</a:t>
                      </a:r>
                    </a:p>
                  </a:txBody>
                  <a:tcPr marL="87608" marR="87608" marT="43804" marB="43804" anchor="ctr"/>
                </a:tc>
                <a:tc>
                  <a:txBody>
                    <a:bodyPr/>
                    <a:lstStyle/>
                    <a:p>
                      <a:pPr>
                        <a:buNone/>
                      </a:pPr>
                      <a:r>
                        <a:rPr lang="es-MX" sz="1700" dirty="0"/>
                        <a:t>Alto error. Solo replica el último valor observado. Sirve como referencia mínima.</a:t>
                      </a:r>
                    </a:p>
                  </a:txBody>
                  <a:tcPr marL="87608" marR="87608" marT="43804" marB="43804" anchor="ctr"/>
                </a:tc>
                <a:extLst>
                  <a:ext uri="{0D108BD9-81ED-4DB2-BD59-A6C34878D82A}">
                    <a16:rowId xmlns:a16="http://schemas.microsoft.com/office/drawing/2014/main" val="3132022593"/>
                  </a:ext>
                </a:extLst>
              </a:tr>
              <a:tr h="553390">
                <a:tc>
                  <a:txBody>
                    <a:bodyPr/>
                    <a:lstStyle/>
                    <a:p>
                      <a:pPr>
                        <a:buNone/>
                      </a:pPr>
                      <a:r>
                        <a:rPr lang="es-CO" sz="1700"/>
                        <a:t>Regresión lineal con rezagos</a:t>
                      </a:r>
                    </a:p>
                  </a:txBody>
                  <a:tcPr marL="87608" marR="87608" marT="43804" marB="43804" anchor="ctr"/>
                </a:tc>
                <a:tc>
                  <a:txBody>
                    <a:bodyPr/>
                    <a:lstStyle/>
                    <a:p>
                      <a:pPr>
                        <a:buNone/>
                      </a:pPr>
                      <a:r>
                        <a:rPr lang="es-CO" sz="1700" b="1"/>
                        <a:t>0.062</a:t>
                      </a:r>
                      <a:endParaRPr lang="es-CO" sz="1700"/>
                    </a:p>
                  </a:txBody>
                  <a:tcPr marL="87608" marR="87608" marT="43804" marB="43804" anchor="ctr"/>
                </a:tc>
                <a:tc>
                  <a:txBody>
                    <a:bodyPr/>
                    <a:lstStyle/>
                    <a:p>
                      <a:pPr>
                        <a:buNone/>
                      </a:pPr>
                      <a:r>
                        <a:rPr lang="es-CO" sz="1700" b="1"/>
                        <a:t>0.070</a:t>
                      </a:r>
                      <a:endParaRPr lang="es-CO" sz="1700"/>
                    </a:p>
                  </a:txBody>
                  <a:tcPr marL="87608" marR="87608" marT="43804" marB="43804" anchor="ctr"/>
                </a:tc>
                <a:tc>
                  <a:txBody>
                    <a:bodyPr/>
                    <a:lstStyle/>
                    <a:p>
                      <a:pPr>
                        <a:buNone/>
                      </a:pPr>
                      <a:r>
                        <a:rPr lang="es-MX" sz="1700"/>
                        <a:t>Mejor desempeño numérico. Captura bien dependencias temporales simples.</a:t>
                      </a:r>
                    </a:p>
                  </a:txBody>
                  <a:tcPr marL="87608" marR="87608" marT="43804" marB="43804" anchor="ctr"/>
                </a:tc>
                <a:extLst>
                  <a:ext uri="{0D108BD9-81ED-4DB2-BD59-A6C34878D82A}">
                    <a16:rowId xmlns:a16="http://schemas.microsoft.com/office/drawing/2014/main" val="3517147925"/>
                  </a:ext>
                </a:extLst>
              </a:tr>
              <a:tr h="553390">
                <a:tc>
                  <a:txBody>
                    <a:bodyPr/>
                    <a:lstStyle/>
                    <a:p>
                      <a:pPr>
                        <a:buNone/>
                      </a:pPr>
                      <a:r>
                        <a:rPr lang="es-CO" sz="1700"/>
                        <a:t>SARIMA</a:t>
                      </a:r>
                    </a:p>
                  </a:txBody>
                  <a:tcPr marL="87608" marR="87608" marT="43804" marB="43804" anchor="ctr"/>
                </a:tc>
                <a:tc>
                  <a:txBody>
                    <a:bodyPr/>
                    <a:lstStyle/>
                    <a:p>
                      <a:pPr>
                        <a:buNone/>
                      </a:pPr>
                      <a:r>
                        <a:rPr lang="es-CO" sz="1700"/>
                        <a:t>0.066</a:t>
                      </a:r>
                    </a:p>
                  </a:txBody>
                  <a:tcPr marL="87608" marR="87608" marT="43804" marB="43804" anchor="ctr"/>
                </a:tc>
                <a:tc>
                  <a:txBody>
                    <a:bodyPr/>
                    <a:lstStyle/>
                    <a:p>
                      <a:pPr>
                        <a:buNone/>
                      </a:pPr>
                      <a:r>
                        <a:rPr lang="es-CO" sz="1700"/>
                        <a:t>0.077</a:t>
                      </a:r>
                    </a:p>
                  </a:txBody>
                  <a:tcPr marL="87608" marR="87608" marT="43804" marB="43804" anchor="ctr"/>
                </a:tc>
                <a:tc>
                  <a:txBody>
                    <a:bodyPr/>
                    <a:lstStyle/>
                    <a:p>
                      <a:pPr>
                        <a:buNone/>
                      </a:pPr>
                      <a:r>
                        <a:rPr lang="es-MX" sz="1700" dirty="0"/>
                        <a:t>Error ligeramente mayor, pero modela explícitamente tendencia y estacionalidad.</a:t>
                      </a:r>
                    </a:p>
                  </a:txBody>
                  <a:tcPr marL="87608" marR="87608" marT="43804" marB="43804" anchor="ctr"/>
                </a:tc>
                <a:extLst>
                  <a:ext uri="{0D108BD9-81ED-4DB2-BD59-A6C34878D82A}">
                    <a16:rowId xmlns:a16="http://schemas.microsoft.com/office/drawing/2014/main" val="512823361"/>
                  </a:ext>
                </a:extLst>
              </a:tr>
            </a:tbl>
          </a:graphicData>
        </a:graphic>
      </p:graphicFrame>
    </p:spTree>
    <p:extLst>
      <p:ext uri="{BB962C8B-B14F-4D97-AF65-F5344CB8AC3E}">
        <p14:creationId xmlns:p14="http://schemas.microsoft.com/office/powerpoint/2010/main" val="1863006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46D75-FA6E-0D37-5F02-073335A42CB9}"/>
              </a:ext>
            </a:extLst>
          </p:cNvPr>
          <p:cNvSpPr>
            <a:spLocks noGrp="1"/>
          </p:cNvSpPr>
          <p:nvPr>
            <p:ph type="title"/>
          </p:nvPr>
        </p:nvSpPr>
        <p:spPr/>
        <p:txBody>
          <a:bodyPr>
            <a:normAutofit/>
          </a:bodyPr>
          <a:lstStyle/>
          <a:p>
            <a:r>
              <a:rPr lang="es-CO" sz="3200" dirty="0">
                <a:solidFill>
                  <a:schemeClr val="tx1"/>
                </a:solidFill>
              </a:rPr>
              <a:t>Resultados y evaluación</a:t>
            </a:r>
          </a:p>
        </p:txBody>
      </p:sp>
      <p:sp>
        <p:nvSpPr>
          <p:cNvPr id="4" name="Rectangle 1">
            <a:extLst>
              <a:ext uri="{FF2B5EF4-FFF2-40B4-BE49-F238E27FC236}">
                <a16:creationId xmlns:a16="http://schemas.microsoft.com/office/drawing/2014/main" id="{3B09B3B3-0408-87CC-0913-5C17B615ACE8}"/>
              </a:ext>
            </a:extLst>
          </p:cNvPr>
          <p:cNvSpPr>
            <a:spLocks noGrp="1" noChangeArrowheads="1"/>
          </p:cNvSpPr>
          <p:nvPr>
            <p:ph idx="1"/>
          </p:nvPr>
        </p:nvSpPr>
        <p:spPr bwMode="auto">
          <a:xfrm>
            <a:off x="676657" y="2114651"/>
            <a:ext cx="347442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Predicciones alineadas con el consumo real.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Errores MAE y RMSE dentro de rangos aceptables.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lang="es-CO" sz="1800" dirty="0"/>
              <a:t>MAE ≈ 0.066 y RMSE ≈ 0.077.</a:t>
            </a:r>
          </a:p>
          <a:p>
            <a:pPr marL="0" lvl="0" indent="0" eaLnBrk="0" fontAlgn="base" hangingPunct="0">
              <a:lnSpc>
                <a:spcPct val="100000"/>
              </a:lnSpc>
              <a:spcBef>
                <a:spcPct val="0"/>
              </a:spcBef>
              <a:spcAft>
                <a:spcPct val="0"/>
              </a:spcAft>
              <a:buNone/>
            </a:pPr>
            <a:endParaRPr kumimoji="0" lang="es-CO" altLang="es-CO"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lang="es-MX" sz="1800" dirty="0"/>
              <a:t>Buen seguimiento de la tendencia general.</a:t>
            </a:r>
          </a:p>
          <a:p>
            <a:pPr marL="0" lvl="0" indent="0" eaLnBrk="0" fontAlgn="base" hangingPunct="0">
              <a:lnSpc>
                <a:spcPct val="100000"/>
              </a:lnSpc>
              <a:spcBef>
                <a:spcPct val="0"/>
              </a:spcBef>
              <a:spcAft>
                <a:spcPct val="0"/>
              </a:spcAft>
              <a:buFontTx/>
              <a:buChar char="•"/>
            </a:pPr>
            <a:endParaRPr kumimoji="0" lang="es-CO" altLang="es-CO"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rPr>
              <a:t>Buen desempeño en distintos periodos del tiempo.</a:t>
            </a:r>
          </a:p>
        </p:txBody>
      </p:sp>
      <p:pic>
        <p:nvPicPr>
          <p:cNvPr id="8" name="Imagen 7">
            <a:extLst>
              <a:ext uri="{FF2B5EF4-FFF2-40B4-BE49-F238E27FC236}">
                <a16:creationId xmlns:a16="http://schemas.microsoft.com/office/drawing/2014/main" id="{F83D6B5C-47C4-2A03-973E-1D8483293261}"/>
              </a:ext>
            </a:extLst>
          </p:cNvPr>
          <p:cNvPicPr>
            <a:picLocks noChangeAspect="1"/>
          </p:cNvPicPr>
          <p:nvPr/>
        </p:nvPicPr>
        <p:blipFill>
          <a:blip r:embed="rId3"/>
          <a:stretch>
            <a:fillRect/>
          </a:stretch>
        </p:blipFill>
        <p:spPr>
          <a:xfrm>
            <a:off x="4170519" y="1897405"/>
            <a:ext cx="7564940" cy="4141446"/>
          </a:xfrm>
          <a:prstGeom prst="rect">
            <a:avLst/>
          </a:prstGeom>
        </p:spPr>
      </p:pic>
    </p:spTree>
    <p:extLst>
      <p:ext uri="{BB962C8B-B14F-4D97-AF65-F5344CB8AC3E}">
        <p14:creationId xmlns:p14="http://schemas.microsoft.com/office/powerpoint/2010/main" val="2103140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91FC90-ECBD-60D3-A80C-513C174CBF3E}"/>
              </a:ext>
            </a:extLst>
          </p:cNvPr>
          <p:cNvSpPr>
            <a:spLocks noGrp="1"/>
          </p:cNvSpPr>
          <p:nvPr>
            <p:ph type="title"/>
          </p:nvPr>
        </p:nvSpPr>
        <p:spPr/>
        <p:txBody>
          <a:bodyPr>
            <a:normAutofit/>
          </a:bodyPr>
          <a:lstStyle/>
          <a:p>
            <a:r>
              <a:rPr lang="es-CO" sz="3200" dirty="0">
                <a:solidFill>
                  <a:schemeClr val="tx1"/>
                </a:solidFill>
              </a:rPr>
              <a:t>Conclusiones finales</a:t>
            </a:r>
          </a:p>
        </p:txBody>
      </p:sp>
      <p:sp>
        <p:nvSpPr>
          <p:cNvPr id="4" name="Rectangle 1">
            <a:extLst>
              <a:ext uri="{FF2B5EF4-FFF2-40B4-BE49-F238E27FC236}">
                <a16:creationId xmlns:a16="http://schemas.microsoft.com/office/drawing/2014/main" id="{D738A061-D83B-1839-065A-E1AEBC6F7A1C}"/>
              </a:ext>
            </a:extLst>
          </p:cNvPr>
          <p:cNvSpPr>
            <a:spLocks noGrp="1" noChangeArrowheads="1"/>
          </p:cNvSpPr>
          <p:nvPr>
            <p:ph idx="1"/>
          </p:nvPr>
        </p:nvSpPr>
        <p:spPr bwMode="auto">
          <a:xfrm>
            <a:off x="657224" y="2048115"/>
            <a:ext cx="1093477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s-MX" sz="1800" dirty="0"/>
              <a:t>El consumo energético presenta </a:t>
            </a:r>
            <a:r>
              <a:rPr lang="es-MX" sz="1800" b="1" dirty="0"/>
              <a:t>patrones estacionales consistentes</a:t>
            </a:r>
            <a:r>
              <a:rPr lang="es-MX" sz="1800" dirty="0"/>
              <a:t>, con mayores niveles en meses fríos.</a:t>
            </a:r>
          </a:p>
          <a:p>
            <a:pPr marL="0" lvl="0" indent="0" eaLnBrk="0" fontAlgn="base" hangingPunct="0">
              <a:lnSpc>
                <a:spcPct val="100000"/>
              </a:lnSpc>
              <a:spcBef>
                <a:spcPct val="0"/>
              </a:spcBef>
              <a:spcAft>
                <a:spcPct val="0"/>
              </a:spcAft>
              <a:buFontTx/>
              <a:buChar char="•"/>
            </a:pPr>
            <a:endParaRPr lang="es-MX" sz="1800" dirty="0"/>
          </a:p>
          <a:p>
            <a:pPr marL="0" lvl="0" indent="0" eaLnBrk="0" fontAlgn="base" hangingPunct="0">
              <a:lnSpc>
                <a:spcPct val="100000"/>
              </a:lnSpc>
              <a:spcBef>
                <a:spcPct val="0"/>
              </a:spcBef>
              <a:spcAft>
                <a:spcPct val="0"/>
              </a:spcAft>
              <a:buFontTx/>
              <a:buChar char="•"/>
            </a:pPr>
            <a:r>
              <a:rPr lang="es-MX" sz="1800" dirty="0"/>
              <a:t>Se identificaron </a:t>
            </a:r>
            <a:r>
              <a:rPr lang="es-MX" sz="1800" b="1" dirty="0"/>
              <a:t>anomalías puntuales</a:t>
            </a:r>
            <a:r>
              <a:rPr lang="es-MX" sz="1800" dirty="0"/>
              <a:t>, que se diluyen al analizar el consumo agregado mensual.</a:t>
            </a:r>
          </a:p>
          <a:p>
            <a:pPr marL="0" lvl="0" indent="0" eaLnBrk="0" fontAlgn="base" hangingPunct="0">
              <a:lnSpc>
                <a:spcPct val="100000"/>
              </a:lnSpc>
              <a:spcBef>
                <a:spcPct val="0"/>
              </a:spcBef>
              <a:spcAft>
                <a:spcPct val="0"/>
              </a:spcAft>
              <a:buFontTx/>
              <a:buChar char="•"/>
            </a:pPr>
            <a:endParaRPr kumimoji="0" lang="es-MX" altLang="es-CO"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lang="es-MX" sz="1800" dirty="0"/>
              <a:t>El consumo muestra </a:t>
            </a:r>
            <a:r>
              <a:rPr lang="es-MX" sz="1800" b="1" dirty="0"/>
              <a:t>alta dependencia de su propio historial</a:t>
            </a:r>
            <a:r>
              <a:rPr lang="es-MX" sz="1800" dirty="0"/>
              <a:t>, lo que permite predicciones razonables sin variables externas.</a:t>
            </a:r>
          </a:p>
          <a:p>
            <a:pPr marL="0" lvl="0" indent="0" eaLnBrk="0" fontAlgn="base" hangingPunct="0">
              <a:lnSpc>
                <a:spcPct val="100000"/>
              </a:lnSpc>
              <a:spcBef>
                <a:spcPct val="0"/>
              </a:spcBef>
              <a:spcAft>
                <a:spcPct val="0"/>
              </a:spcAft>
              <a:buNone/>
            </a:pPr>
            <a:endParaRPr lang="es-MX" sz="1800" dirty="0"/>
          </a:p>
          <a:p>
            <a:pPr marL="0" lvl="0" indent="0" eaLnBrk="0" fontAlgn="base" hangingPunct="0">
              <a:lnSpc>
                <a:spcPct val="100000"/>
              </a:lnSpc>
              <a:spcBef>
                <a:spcPct val="0"/>
              </a:spcBef>
              <a:spcAft>
                <a:spcPct val="0"/>
              </a:spcAft>
              <a:buFontTx/>
              <a:buChar char="•"/>
            </a:pPr>
            <a:r>
              <a:rPr lang="es-MX" sz="1800" b="1" dirty="0"/>
              <a:t>SARIMA ofrece el mejor balance entre precisión e interpretabilidad</a:t>
            </a:r>
            <a:r>
              <a:rPr lang="es-MX" sz="1800" dirty="0"/>
              <a:t> para este problema.</a:t>
            </a:r>
            <a:endParaRPr kumimoji="0" lang="es-MX" altLang="es-CO"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None/>
            </a:pPr>
            <a:endParaRPr lang="es-MX" altLang="es-CO" sz="1800" i="1" dirty="0">
              <a:solidFill>
                <a:schemeClr val="tx1"/>
              </a:solidFill>
            </a:endParaRPr>
          </a:p>
          <a:p>
            <a:pPr marL="0" lvl="0" indent="0" eaLnBrk="0" fontAlgn="base" hangingPunct="0">
              <a:lnSpc>
                <a:spcPct val="100000"/>
              </a:lnSpc>
              <a:spcBef>
                <a:spcPct val="0"/>
              </a:spcBef>
              <a:spcAft>
                <a:spcPct val="0"/>
              </a:spcAft>
              <a:buNone/>
            </a:pPr>
            <a:endParaRPr lang="es-MX" altLang="es-CO" sz="1800" i="1" dirty="0">
              <a:solidFill>
                <a:schemeClr val="tx1"/>
              </a:solidFill>
            </a:endParaRPr>
          </a:p>
          <a:p>
            <a:pPr marL="0" lvl="0" indent="0" eaLnBrk="0" fontAlgn="base" hangingPunct="0">
              <a:lnSpc>
                <a:spcPct val="100000"/>
              </a:lnSpc>
              <a:spcBef>
                <a:spcPct val="0"/>
              </a:spcBef>
              <a:spcAft>
                <a:spcPct val="0"/>
              </a:spcAft>
              <a:buNone/>
            </a:pPr>
            <a:r>
              <a:rPr lang="es-CO" sz="1800" i="1" dirty="0"/>
              <a:t>Este análisis sienta las bases para futuras extensiones del modelo incorporando variables externas como clima o actividad operativa.</a:t>
            </a:r>
            <a:endParaRPr kumimoji="0" lang="es-CO" altLang="es-CO" sz="1800" b="0" i="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14315766"/>
      </p:ext>
    </p:extLst>
  </p:cSld>
  <p:clrMapOvr>
    <a:masterClrMapping/>
  </p:clrMapOvr>
</p:sld>
</file>

<file path=ppt/theme/theme1.xml><?xml version="1.0" encoding="utf-8"?>
<a:theme xmlns:a="http://schemas.openxmlformats.org/drawingml/2006/main" name="Metropolitano">
  <a:themeElements>
    <a:clrScheme name="Metropolitano">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o">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TM03457491[[fn=Metropolitano]]</Template>
  <TotalTime>371</TotalTime>
  <Words>1158</Words>
  <Application>Microsoft Office PowerPoint</Application>
  <PresentationFormat>Panorámica</PresentationFormat>
  <Paragraphs>148</Paragraphs>
  <Slides>13</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Metropolitano</vt:lpstr>
      <vt:lpstr>Análisis y Predicción del Consumo Energético </vt:lpstr>
      <vt:lpstr>Objetivo del proyecto</vt:lpstr>
      <vt:lpstr>Preguntas de análisis</vt:lpstr>
      <vt:lpstr>Datos utilizados en el análisis</vt:lpstr>
      <vt:lpstr>Análisis exploratorio del consumo</vt:lpstr>
      <vt:lpstr>Anomalías y comportamientos atípicos </vt:lpstr>
      <vt:lpstr>Dependencia temporal del consumo energético</vt:lpstr>
      <vt:lpstr>Preparación de datos para modelado</vt:lpstr>
      <vt:lpstr>Modelo base: regresión con rezagos</vt:lpstr>
      <vt:lpstr>Modelo avanzado: SARIMA</vt:lpstr>
      <vt:lpstr>Comparación de modelos Predictivos</vt:lpstr>
      <vt:lpstr>Resultados y evaluación</vt:lpstr>
      <vt:lpstr>Conclusiones finales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mario ramos</dc:creator>
  <cp:lastModifiedBy>mario ramos</cp:lastModifiedBy>
  <cp:revision>75</cp:revision>
  <dcterms:created xsi:type="dcterms:W3CDTF">2026-01-16T21:41:58Z</dcterms:created>
  <dcterms:modified xsi:type="dcterms:W3CDTF">2026-01-17T18:37:18Z</dcterms:modified>
</cp:coreProperties>
</file>